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9" Type="http://schemas.openxmlformats.org/officeDocument/2006/relationships/tableStyles" Target="tableStyles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1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notesMaster" Target="notesMasters/notesMaster1.xml" /><Relationship Id="rId8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2" Type="http://schemas.openxmlformats.org/officeDocument/2006/relationships/image" Target="media/image1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position: 'relative', background: '#0E3F8C', overflow: 'hidden' }}&gt;&#10;    &lt;Image src=&quot;assets/shot-booking.png&quot; style={{ position: 'absolute', top: 0, left: 0, width: 1280, height: 720, objectFit: 'cover', opacity: 0.32 }} /&gt;&#10;    &lt;Box style={{ position: 'absolute', top: 0, left: 0, width: 1280, height: 720, background: 'linear-gradient(115deg, rgba(14,63,140,0.94) 0%, rgba(14,63,140,0.72) 52%, rgba(30,79,168,0.42) 100%)' }} /&gt;&#10;    &lt;Box style={{ position: 'absolute', left: 64, top: 132, width: 820, flexDirection: 'column', gap: 22 }}&gt;&#10;        &lt;Box style={{ flexDirection: 'row', gap: 14, alignItems: 'center' }}&gt;&#10;            &lt;Box style={{ background: '#FFC107', borderRadius: 4, padding: '5px 14px' }}&gt;&#10;                &lt;Text style={{ fontSize: 16, fontWeight: 'bold', color: '#1A2230' }}&gt;题库第 5 题 · 个人项目&lt;/Text&gt;&#10;            &lt;/Box&gt;&#10;            &lt;Text style={{ fontSize: 16, color: '#C9D8F0', letterSpacing: 2 }}&gt;Vibe Coding 集中实践 · 结课路演&lt;/Text&gt;&#10;        &lt;/Box&gt;&#10;        &lt;Text style={{ fontSize: 68, fontWeight: 'bold', color: '#FFFFFF', lineHeight: 1.15 }}&gt;实验室设备预约系统&lt;/Text&gt;&#10;        &lt;Text style={{ fontSize: 22, color: '#AFC8EC', letterSpacing: 5 }}&gt;LAB EQUIPMENT RESERVATION SYSTEM&lt;/Text&gt;&#10;        &lt;Box style={{ width: 84, height: 6, background: '#FFC107' }} /&gt;&#10;        &lt;Text style={{ fontSize: 30, fontWeight: 'bold', color: '#FFFFFF' }}&gt;把设备冲突，消灭在提交之前&lt;/Text&gt;&#10;        &lt;Text style={{ fontSize: 22, color: '#D8E3F5', lineHeight: 1.6 }}&gt;&#10;            同一设备 · 同一天 · 同一时段，只接受一条有效预约——&lt;br /&gt;&#10;            这条规则不只写在界面上，也写进了 10 条业务测试里。&#10;        &lt;/Text&gt;&#10;    &lt;/Box&gt;&#10;    &lt;Box style={{ position: 'absolute', left: 64, bottom: 46, width: 1152, flexDirection: 'row', justifyContent: 'space-between', alignItems: 'center' }}&gt;&#10;        &lt;Text style={{ fontSize: 18, color: '#E8EFF8' }}&gt;吴辰枫 · 2026 年 10 月&lt;/Text&gt;&#10;        &lt;Text style={{ fontSize: 18, color: '#E8EFF8' }}&gt;线上已上线 · huanz1.github.io/project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>
            <a:alphaModFix amt="32000"/>
          </a:blip>
          <a:srcRect l="0" t="5000" r="0" b="5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3F8C">
                  <a:alpha val="94000"/>
                </a:srgbClr>
              </a:gs>
              <a:gs pos="52000">
                <a:srgbClr val="0E3F8C">
                  <a:alpha val="72000"/>
                </a:srgbClr>
              </a:gs>
              <a:gs pos="100000">
                <a:srgbClr val="1E4FA8">
                  <a:alpha val="42000"/>
                </a:srgbClr>
              </a:gs>
            </a:gsLst>
            <a:lin ang="15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257300"/>
            <a:ext cx="1828800" cy="285750"/>
          </a:xfrm>
          <a:prstGeom prst="roundRect">
            <a:avLst>
              <a:gd name="adj" fmla="val 13333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42950" y="1304925"/>
            <a:ext cx="1562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题库第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题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个人项目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2571750" y="1304925"/>
            <a:ext cx="2733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C9D8F0"/>
                </a:solidFill>
                <a:latin typeface="Microsoft YaHei"/>
                <a:ea typeface="Microsoft YaHei"/>
              </a:rPr>
              <a:t xml:space="preserve">Vibe Coding </a:t>
            </a:r>
            <a:r>
              <a:rPr lang="zh-CN" sz="1200" spc="150">
                <a:solidFill>
                  <a:srgbClr val="C9D8F0"/>
                </a:solidFill>
                <a:latin typeface="Microsoft YaHei"/>
                <a:ea typeface="Microsoft YaHei"/>
              </a:rPr>
              <a:t>集中实践</a:t>
            </a:r>
            <a:r>
              <a:rPr lang="en-US" sz="1200" spc="150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C9D8F0"/>
                </a:solidFill>
                <a:latin typeface="Microsoft YaHei"/>
                <a:ea typeface="Microsoft YaHei"/>
              </a:rPr>
              <a:t>结课路演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78105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>
                <a:solidFill>
                  <a:srgbClr val="FFFFFF"/>
                </a:solidFill>
                <a:latin typeface="Microsoft YaHei"/>
                <a:ea typeface="Microsoft YaHei"/>
              </a:rPr>
              <a:t>实验室设备预约系统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857500"/>
            <a:ext cx="7810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375">
                <a:solidFill>
                  <a:srgbClr val="AFC8EC"/>
                </a:solidFill>
                <a:latin typeface="Microsoft YaHei"/>
                <a:ea typeface="Microsoft YaHei"/>
              </a:rPr>
              <a:t>LAB EQUIPMENT RESERVATION SYSTEM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09600" y="3324225"/>
            <a:ext cx="8001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3590925"/>
            <a:ext cx="7810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把设备冲突，消灭在提交之前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4143375"/>
            <a:ext cx="7810500" cy="809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同一设备</a:t>
            </a:r>
            <a:r>
              <a:rPr lang="en-US" sz="1650">
                <a:solidFill>
                  <a:srgbClr val="D8E3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同一天</a:t>
            </a:r>
            <a:r>
              <a:rPr lang="en-US" sz="1650">
                <a:solidFill>
                  <a:srgbClr val="D8E3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同一时段，只接受一条有效预约——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这条规则不只写在界面上，也写进了</a:t>
            </a:r>
            <a:r>
              <a:rPr lang="en-US" sz="1650">
                <a:solidFill>
                  <a:srgbClr val="D8E3F5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条业务测试里。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6210300"/>
            <a:ext cx="1762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8EFF8"/>
                </a:solidFill>
                <a:latin typeface="Microsoft YaHei"/>
                <a:ea typeface="Microsoft YaHei"/>
              </a:rPr>
              <a:t>吴辰枫</a:t>
            </a:r>
            <a:r>
              <a:rPr lang="en-US" sz="1350">
                <a:solidFill>
                  <a:srgbClr val="E8EFF8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350">
                <a:solidFill>
                  <a:srgbClr val="E8EFF8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E8EFF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>
                <a:solidFill>
                  <a:srgbClr val="E8EFF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458200" y="621030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8EFF8"/>
                </a:solidFill>
                <a:latin typeface="Microsoft YaHei"/>
                <a:ea typeface="Microsoft YaHei"/>
              </a:rPr>
              <a:t>线上已上线</a:t>
            </a:r>
            <a:r>
              <a:rPr lang="en-US" sz="1350">
                <a:solidFill>
                  <a:srgbClr val="E8EFF8"/>
                </a:solidFill>
                <a:latin typeface="Microsoft YaHei"/>
                <a:ea typeface="Microsoft YaHei"/>
              </a:rPr>
              <a:t xml:space="preserve"> · huanz1.github.io/project1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" name="" descr="&lt;Slide style={{ width: 1280, height: 720, position: 'relative', background: '#FFFFFF', overflow: 'hidden' }}&gt;&#10;    &lt;Box style={{ position: 'absolute', top: 0, left: 0, width: 1280, height: 80, background: '#1E4FA8', flexDirection: 'row', alignItems: 'center', justifyContent: 'space-between', padding: '0 40px' }}&gt;&#10;        &lt;Text style={{ fontSize: 20, fontWeight: 'bold', color: '#FFFFFF' }}&gt;问题域 · 设备抢手，登记还靠一本纸&lt;/Text&gt;&#10;        &lt;Text style={{ fontSize: 14, color: '#C9D8F0' }}&gt;实验室设备预约系统 · 吴辰枫&lt;/Text&gt;&#10;    &lt;/Box&gt;&#10;    &lt;Box style={{ position: 'absolute', top: 104, left: 40, width: 1200, flexDirection: 'column', gap: 16 }}&gt;&#10;        &lt;Text style={{ fontSize: 32, fontWeight: 'bold', color: '#0E3F8C' }}&gt;6 台设备 × 5 个时段，三处结构性缺陷&lt;/Text&gt;&#10;        &lt;Box style={{ flexDirection: 'row', gap: 24, height: 470 }}&gt;&#10;            &lt;Box style={{ width: 700, flexDirection: 'column', gap: 14 }}&gt;&#10;                &lt;Box style={{ flexDirection: 'row', gap: 16, alignItems: 'center', background: '#F7F9FC', border: '1px solid #D6DCE5', borderRadius: 8, padding: '12px 20px', flex: 1 }}&gt;&#10;                    &lt;Box style={{ width: 46, height: 46, background: '#1E4FA8', borderRadius: 6, alignItems: 'center', justifyContent: 'center' }}&gt;&#10;                        &lt;Text style={{ fontSize: 20, fontWeight: 'bold', color: '#FFFFFF' }}&gt;01&lt;/Text&gt;&#10;                    &lt;/Box&gt;&#10;                    &lt;Box style={{ flexDirection: 'column', gap: 4, flex: 1 }}&gt;&#10;                        &lt;Text style={{ fontSize: 24, fontWeight: 'bold', color: '#1A2230' }}&gt;占用不可见&lt;/Text&gt;&#10;                        &lt;Text style={{ fontSize: 22, color: '#4A5568', lineHeight: 1.45 }}&gt;登记本锁在实验室桌上，离开现场无法查询——&lt;span style={{ color: '#D9534F' }}&gt;到场才知道被占，时间成本白花。&lt;/span&gt;&lt;/Text&gt;&#10;                    &lt;/Box&gt;&#10;                &lt;/Box&gt;&#10;                &lt;Box style={{ flexDirection: 'row', gap: 16, alignItems: 'center', background: '#F7F9FC', border: '1px solid #D6DCE5', borderRadius: 8, padding: '12px 20px', flex: 1 }}&gt;&#10;                    &lt;Box style={{ width: 46, height: 46, background: '#1E4FA8', borderRadius: 6, alignItems: 'center', justifyContent: 'center' }}&gt;&#10;                        &lt;Text style={{ fontSize: 20, fontWeight: 'bold', color: '#FFFFFF' }}&gt;02&lt;/Text&gt;&#10;                    &lt;/Box&gt;&#10;                    &lt;Box style={{ flexDirection: 'column', gap: 4, flex: 1 }}&gt;&#10;                        &lt;Text style={{ fontSize: 24, fontWeight: 'bold', color: '#1A2230' }}&gt;没有互斥约束&lt;/Text&gt;&#10;                        &lt;Text style={{ fontSize: 22, color: '#4A5568', lineHeight: 1.45 }}&gt;同一时段可以被重复登记，谁先到算谁的——&lt;span style={{ color: '#D9534F' }}&gt;冲突全靠人肉协调，无据可查。&lt;/span&gt;&lt;/Text&gt;&#10;                    &lt;/Box&gt;&#10;                &lt;/Box&gt;&#10;                &lt;Box style={{ flexDirection: 'row', gap: 16, alignItems: 'center', background: '#F7F9FC', border: '1px solid #D6DCE5', borderRadius: 8, padding: '12px 20px', flex: 1 }}&gt;&#10;                    &lt;Box style={{ width: 46, height: 46, background: '#1E4FA8', borderRadius: 6, alignItems: 'center', justifyContent: 'center' }}&gt;&#10;                        &lt;Text style={{ fontSize: 20, fontWeight: 'bold', color: '#FFFFFF' }}&gt;03&lt;/Text&gt;&#10;                    &lt;/Box&gt;&#10;                    &lt;Box style={{ flexDirection: 'column', gap: 4, flex: 1 }}&gt;&#10;                        &lt;Text style={{ fontSize: 24, fontWeight: 'bold', color: '#1A2230' }}&gt;使用率无从统计&lt;/Text&gt;&#10;                        &lt;Text style={{ fontSize: 22, color: '#4A5568', lineHeight: 1.45 }}&gt;签名不留结构化数据，设备忙闲全凭印象——&lt;span style={{ color: '#D9534F' }}&gt;采购与排期只能拍脑袋。&lt;/span&gt;&lt;/Text&gt;&#10;                    &lt;/Box&gt;&#10;                &lt;/Box&gt;&#10;            &lt;/Box&gt;&#10;            &lt;Box style={{ width: 476, flexDirection: 'column', gap: 12, background: '#E8EFF8', borderRadius: 8, padding: '18px 22px' }}&gt;&#10;                &lt;Text style={{ fontSize: 24, fontWeight: 'bold', color: '#0E3F8C' }}&gt;从痛点倒推需求&lt;/Text&gt;&#10;                &lt;Text style={{ fontSize: 22, color: '#1A2230', lineHeight: 1.5 }}&gt;作为学生，我想&lt;span style={{ fontWeight: 'bold' }}&gt;出发前就查到&lt;/span&gt;哪天哪个时段空着，免得白跑。&lt;/Text&gt;&#10;                &lt;Text style={{ fontSize: 22, color: '#1A2230', lineHeight: 1.5 }}&gt;作为学生，我想&lt;span style={{ fontWeight: 'bold' }}&gt;提交后立刻知道&lt;/span&gt;约没约上，不用到场再协商。&lt;/Text&gt;&#10;                &lt;Text style={{ fontSize: 22, color: '#1A2230', lineHeight: 1.5 }}&gt;作为管理员，我想看到&lt;span style={{ fontWeight: 'bold' }}&gt;使用率统计&lt;/span&gt;，让采购排期有依据。&lt;/Text&gt;&#10;                &lt;Box style={{ flex: 1 }} /&gt;&#10;                &lt;Box style={{ background: '#0E3F8C', borderRadius: 8, padding: '12px 16px' }}&gt;&#10;                    &lt;Text style={{ fontSize: 20, fontWeight: 'bold', color: '#FFFFFF', lineHeight: 1.45 }}&gt;所以呢：约束要搬进系统，而不是贴在墙上——这些诉求已逐条写进 PRD 验收表。&lt;/Text&gt;&#10;                &lt;/Box&gt;&#10;            &lt;/Box&gt;&#10;        &lt;/Box&gt;&#10;    &lt;/Box&gt;&#10;    &lt;Box style={{ position: 'absolute', top: 668, left: 40, width: 1200, flexDirection: 'row', justifyContent: 'space-between', alignItems: 'center' }}&gt;&#10;        &lt;Text style={{ fontSize: 14, color: '#8B97A8' }}&gt;Vibe Coding 集中实践 · 实验室设备预约系统&lt;/Text&gt;&#10;        &lt;Text style={{ fontSize: 15, fontWeight: 'bold', color: '#1E4FA8' }}&gt;02 / 0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81000" y="266700"/>
            <a:ext cx="3057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问题域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设备抢手，登记还靠一本纸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096500" y="304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D8F0"/>
                </a:solidFill>
                <a:latin typeface="Microsoft YaHei"/>
                <a:ea typeface="Microsoft YaHei"/>
              </a:rPr>
              <a:t>实验室设备预约系统</a:t>
            </a:r>
            <a:r>
              <a:rPr lang="en-US" sz="1050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9D8F0"/>
                </a:solidFill>
                <a:latin typeface="Microsoft YaHei"/>
                <a:ea typeface="Microsoft YaHei"/>
              </a:rPr>
              <a:t>吴辰枫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9906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台设备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× 5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个时段，三处结构性缺陷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381000" y="1514475"/>
            <a:ext cx="6667500" cy="1400175"/>
          </a:xfrm>
          <a:prstGeom prst="roundRect">
            <a:avLst>
              <a:gd name="adj" fmla="val 54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571500" y="2000250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76275" y="21050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62050" y="1695450"/>
            <a:ext cx="5695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占用不可见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62050" y="2009775"/>
            <a:ext cx="56959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登记本锁在实验室桌上，离开现场无法查询——</a:t>
            </a:r>
            <a:r>
              <a:rPr lang="zh-CN" sz="1650">
                <a:solidFill>
                  <a:srgbClr val="D9534F"/>
                </a:solidFill>
                <a:latin typeface="Microsoft YaHei"/>
                <a:ea typeface="Microsoft YaHei"/>
              </a:rPr>
              <a:t>到场才知道被占，时间成本白花。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381000" y="3048000"/>
            <a:ext cx="6667500" cy="140970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571500" y="353377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76275" y="36385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62050" y="3228975"/>
            <a:ext cx="5695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没有互斥约束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62050" y="3543300"/>
            <a:ext cx="56959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同一时段可以被重复登记，谁先到算谁的——</a:t>
            </a:r>
            <a:r>
              <a:rPr lang="zh-CN" sz="1650">
                <a:solidFill>
                  <a:srgbClr val="D9534F"/>
                </a:solidFill>
                <a:latin typeface="Microsoft YaHei"/>
                <a:ea typeface="Microsoft YaHei"/>
              </a:rPr>
              <a:t>冲突全靠人肉协调，无据可查。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381000" y="4591050"/>
            <a:ext cx="6667500" cy="1400175"/>
          </a:xfrm>
          <a:prstGeom prst="roundRect">
            <a:avLst>
              <a:gd name="adj" fmla="val 54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571500" y="507682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76275" y="51816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62050" y="4772025"/>
            <a:ext cx="5695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使用率无从统计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62050" y="5086350"/>
            <a:ext cx="56959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签名不留结构化数据，设备忙闲全凭印象——</a:t>
            </a:r>
            <a:r>
              <a:rPr lang="zh-CN" sz="1650">
                <a:solidFill>
                  <a:srgbClr val="D9534F"/>
                </a:solidFill>
                <a:latin typeface="Microsoft YaHei"/>
                <a:ea typeface="Microsoft YaHei"/>
              </a:rPr>
              <a:t>采购与排期只能拍脑袋。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7277100" y="1514475"/>
            <a:ext cx="4533900" cy="4476750"/>
          </a:xfrm>
          <a:prstGeom prst="roundRect">
            <a:avLst>
              <a:gd name="adj" fmla="val 170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86650" y="1685925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从痛点倒推需求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486650" y="2076450"/>
            <a:ext cx="41148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作为学生，我想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出发前就查到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哪天哪个时段空着，免得白跑。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486650" y="2952750"/>
            <a:ext cx="41148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作为学生，我想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提交后立刻知道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约没约上，不用到场再协商。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486650" y="3829050"/>
            <a:ext cx="41148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作为管理员，我想看到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使用率统计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，让采购排期有依据。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486650" y="4924425"/>
            <a:ext cx="4114800" cy="895350"/>
          </a:xfrm>
          <a:prstGeom prst="roundRect">
            <a:avLst>
              <a:gd name="adj" fmla="val 851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639050" y="5038725"/>
            <a:ext cx="3810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所以呢：约束要搬进系统，而不是贴在墙上——这些诉求已逐条写进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PRD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验收表。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81000" y="6372225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Vibe Coding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集中实践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实验室设备预约系统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296650" y="63627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02 / 06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5" name="" descr="&lt;Slide style={{ width: 1280, height: 720, position: 'relative', background: '#FFFFFF', overflow: 'hidden' }}&gt;&#10;    &lt;Box style={{ position: 'absolute', top: 0, left: 0, width: 1280, height: 80, background: '#1E4FA8', flexDirection: 'row', alignItems: 'center', justifyContent: 'space-between', padding: '0 40px' }}&gt;&#10;        &lt;Text style={{ fontSize: 20, fontWeight: 'bold', color: '#FFFFFF' }}&gt;方案 · 一个判定式，两处兜底&lt;/Text&gt;&#10;        &lt;Text style={{ fontSize: 14, color: '#C9D8F0' }}&gt;实验室设备预约系统 · 吴辰枫&lt;/Text&gt;&#10;    &lt;/Box&gt;&#10;    &lt;Box style={{ position: 'absolute', top: 100, left: 40, width: 1200, flexDirection: 'column', gap: 16 }}&gt;&#10;        &lt;Box style={{ background: '#0E3F8C', borderRadius: 8, padding: '16px 24px', flexDirection: 'column', gap: 8 }}&gt;&#10;            &lt;Text style={{ fontSize: 24, fontWeight: 'bold', color: '#FFFFFF' }}&gt;conflict(设备, 日期, 时段) ≡ 该设备该日该时段已存在有效预约 → 拒绝&lt;/Text&gt;&#10;            &lt;Text style={{ fontSize: 22, color: '#C9D8F0', lineHeight: 1.5 }}&gt;双保险：&lt;span style={{ fontWeight: 'bold', color: '#FFC107' }}&gt;① 界面禁用&lt;/span&gt;已占时段，从源头防误点；&lt;span style={{ fontWeight: 'bold', color: '#FFC107' }}&gt;② 数据层二次拦截&lt;/span&gt;，绕过界面直接提交同样被拒——规则不信任前端。&lt;/Text&gt;&#10;        &lt;/Box&gt;&#10;        &lt;Box style={{ flexDirection: 'row', alignItems: 'center', gap: 10, background: '#F0F5FC', borderRadius: 8, padding: '12px 18px' }}&gt;&#10;            &lt;Text style={{ fontSize: 18, fontWeight: 'bold', color: '#0E3F8C' }}&gt;现场动线&lt;/Text&gt;&#10;            {['预约', '冲突拒绝', '占用总览', '改期/取消', '数据看板', 'AI 助手'].map((s, i, arr) =&gt; (&#10;                &lt;Box key={i} style={{ flexDirection: 'row', alignItems: 'center', gap: 10 }}&gt;&#10;                    &lt;Box style={{ background: '#FFFFFF', border: '2px solid #1E4FA8', borderRadius: 18, padding: '6px 16px' }}&gt;&#10;                        &lt;Text style={{ fontSize: 18, fontWeight: 'bold', color: '#1E4FA8' }}&gt;{s}&lt;/Text&gt;&#10;                    &lt;/Box&gt;&#10;                    {i &lt; arr.length - 1 &amp;&amp; &lt;Text style={{ fontSize: 18, color: '#3D7BD9' }}&gt;→&lt;/Text&gt;}&#10;                &lt;/Box&gt;&#10;            ))}&#10;        &lt;/Box&gt;&#10;        &lt;Box style={{ flexDirection: 'row', gap: 20, height: 292 }}&gt;&#10;            &lt;Box style={{ width: 660, flexDirection: 'column', gap: 8 }}&gt;&#10;                &lt;Image src=&quot;assets/shot-overview.png&quot; style={{ width: 660, height: 252, objectFit: 'cover', borderRadius: 8, border: '1px solid #D6DCE5' }} /&gt;&#10;                &lt;Text style={{ fontSize: 16, color: '#4A5568' }}&gt;占用总览：6×5 矩阵，绿格即被占用并显示预约人——占用第一次&quot;看得见&quot;（真实界面）&lt;/Text&gt;&#10;            &lt;/Box&gt;&#10;            &lt;Box style={{ flex: 1, flexDirection: 'column', gap: 8 }}&gt;&#10;                &lt;Image src=&quot;assets/shot-booking.png&quot; style={{ width: 520, height: 252, objectFit: 'cover', borderRadius: 8, border: '1px solid #D6DCE5' }} /&gt;&#10;                &lt;Text style={{ fontSize: 16, color: '#4A5568' }}&gt;设备台账：忙闲徽标 + 一键预约（真实界面）&lt;/Text&gt;&#10;            &lt;/Box&gt;&#10;        &lt;/Box&gt;&#10;    &lt;/Box&gt;&#10;    &lt;Box style={{ position: 'absolute', top: 668, left: 40, width: 1200, flexDirection: 'row', justifyContent: 'space-between', alignItems: 'center' }}&gt;&#10;        &lt;Text style={{ fontSize: 14, color: '#8B97A8' }}&gt;Vibe Coding 集中实践 · 实验室设备预约系统&lt;/Text&gt;&#10;        &lt;Text style={{ fontSize: 15, fontWeight: 'bold', color: '#1E4FA8' }}&gt;03 / 0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81000" y="266700"/>
            <a:ext cx="2486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方案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一个判定式，两处兜底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096500" y="304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D8F0"/>
                </a:solidFill>
                <a:latin typeface="Microsoft YaHei"/>
                <a:ea typeface="Microsoft YaHei"/>
              </a:rPr>
              <a:t>实验室设备预约系统</a:t>
            </a:r>
            <a:r>
              <a:rPr lang="en-US" sz="1050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9D8F0"/>
                </a:solidFill>
                <a:latin typeface="Microsoft YaHei"/>
                <a:ea typeface="Microsoft YaHei"/>
              </a:rPr>
              <a:t>吴辰枫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1000" y="952500"/>
            <a:ext cx="11430000" cy="1419225"/>
          </a:xfrm>
          <a:prstGeom prst="roundRect">
            <a:avLst>
              <a:gd name="adj" fmla="val 536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110490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conflict(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设备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,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日期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,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时段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) ≡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该设备该日该时段已存在有效预约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拒绝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" y="1457325"/>
            <a:ext cx="109728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C9D8F0"/>
                </a:solidFill>
                <a:latin typeface="Microsoft YaHei"/>
                <a:ea typeface="Microsoft YaHei"/>
              </a:rPr>
              <a:t>双保险：</a:t>
            </a: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界面禁用</a:t>
            </a:r>
            <a:r>
              <a:rPr lang="zh-CN" sz="1650">
                <a:solidFill>
                  <a:srgbClr val="C9D8F0"/>
                </a:solidFill>
                <a:latin typeface="Microsoft YaHei"/>
                <a:ea typeface="Microsoft YaHei"/>
              </a:rPr>
              <a:t>已占时段，从源头防误点；</a:t>
            </a: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数据层二次拦截</a:t>
            </a:r>
            <a:r>
              <a:rPr lang="zh-CN" sz="1650">
                <a:solidFill>
                  <a:srgbClr val="C9D8F0"/>
                </a:solidFill>
                <a:latin typeface="Microsoft YaHei"/>
                <a:ea typeface="Microsoft YaHei"/>
              </a:rPr>
              <a:t>，绕过界面直接提交同样被拒——规则不信任前端。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81000" y="2524125"/>
            <a:ext cx="1143000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52450" y="26955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现场动线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1333500" y="2638425"/>
            <a:ext cx="647700" cy="323850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485900" y="26955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预约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2076450" y="26955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2343150" y="2638425"/>
            <a:ext cx="990600" cy="323850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2495550" y="26955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冲突拒绝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429000" y="26955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3695700" y="2638425"/>
            <a:ext cx="990600" cy="323850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848100" y="26955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占用总览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781550" y="26955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048250" y="2638425"/>
            <a:ext cx="1076325" cy="323850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200650" y="2695575"/>
            <a:ext cx="771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改期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/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取消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219825" y="26955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486525" y="2638425"/>
            <a:ext cx="990600" cy="323850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638925" y="26955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数据看板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572375" y="26955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7839075" y="2638425"/>
            <a:ext cx="885825" cy="323850"/>
          </a:xfrm>
          <a:prstGeom prst="roundRect">
            <a:avLst>
              <a:gd name="adj" fmla="val 52941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991475" y="2695575"/>
            <a:ext cx="581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381000" y="3228975"/>
            <a:ext cx="6286500" cy="24003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73" name=""/>
          <p:cNvPicPr>
            <a:picLocks noChangeAspect="1"/>
          </p:cNvPicPr>
          <p:nvPr/>
        </p:nvPicPr>
        <p:blipFill>
          <a:blip r:embed="rId1"/>
          <a:srcRect l="0" t="19454" r="0" b="19454"/>
          <a:stretch>
            <a:fillRect/>
          </a:stretch>
        </p:blipFill>
        <p:spPr>
          <a:xfrm rot="0" flipH="0" flipV="0">
            <a:off x="381000" y="3228975"/>
            <a:ext cx="6286500" cy="2400300"/>
          </a:xfrm>
          <a:prstGeom prst="roundRect">
            <a:avLst>
              <a:gd name="adj" fmla="val 3175"/>
            </a:avLst>
          </a:prstGeom>
          <a:ln/>
        </p:spPr>
      </p:pic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81000" y="5705475"/>
            <a:ext cx="628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占用总览：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6×5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矩阵，绿格即被占用并显示预约人——占用第一次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看得见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（真实界面）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858000" y="3228975"/>
            <a:ext cx="4953000" cy="24003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76" name=""/>
          <p:cNvPicPr>
            <a:picLocks noChangeAspect="1"/>
          </p:cNvPicPr>
          <p:nvPr/>
        </p:nvPicPr>
        <p:blipFill>
          <a:blip r:embed="rId2"/>
          <a:srcRect l="0" t="11230" r="0" b="11230"/>
          <a:stretch>
            <a:fillRect/>
          </a:stretch>
        </p:blipFill>
        <p:spPr>
          <a:xfrm rot="0" flipH="0" flipV="0">
            <a:off x="6858000" y="3228975"/>
            <a:ext cx="4953000" cy="2400300"/>
          </a:xfrm>
          <a:prstGeom prst="roundRect">
            <a:avLst>
              <a:gd name="adj" fmla="val 3175"/>
            </a:avLst>
          </a:prstGeom>
          <a:ln/>
        </p:spPr>
      </p:pic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858000" y="57054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设备台账：忙闲徽标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一键预约（真实界面）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6372225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Vibe Coding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集中实践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实验室设备预约系统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296650" y="63627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03 / 06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0" name="" descr="&lt;Slide style={{ width: 1280, height: 720, position: 'relative', background: '#FFFFFF', overflow: 'hidden' }}&gt;&#10;    &lt;Box style={{ position: 'absolute', top: 0, left: 0, width: 1280, height: 80, background: '#1E4FA8', flexDirection: 'row', alignItems: 'center', justifyContent: 'space-between', padding: '0 40px' }}&gt;&#10;        &lt;Text style={{ fontSize: 20, fontWeight: 'bold', color: '#FFFFFF' }}&gt;AI 能力 · 题库定义的两个点位&lt;/Text&gt;&#10;        &lt;Text style={{ fontSize: 14, color: '#C9D8F0' }}&gt;实验室设备预约系统 · 吴辰枫&lt;/Text&gt;&#10;    &lt;/Box&gt;&#10;    &lt;Box style={{ position: 'absolute', top: 104, left: 40, width: 1200, flexDirection: 'column', gap: 14 }}&gt;&#10;        &lt;Text style={{ fontSize: 32, fontWeight: 'bold', color: '#0E3F8C' }}&gt;AI 只做它擅长的表达与归纳，规则仍由代码和测试把守&lt;/Text&gt;&#10;        &lt;Box style={{ flexDirection: 'row', gap: 22, height: 470 }}&gt;&#10;            &lt;Box style={{ width: 660, flexDirection: 'column', gap: 8 }}&gt;&#10;                &lt;Image src=&quot;assets/shot-ai.png&quot; style={{ width: 660, height: 412, objectFit: 'cover', borderRadius: 8, border: '1px solid #D6DCE5' }} /&gt;&#10;                &lt;Text style={{ fontSize: 16, color: '#4A5568' }}&gt;AI 助手页真实界面：服务未启动时明确降级提示（顶部红点），右下为本机用量与成本对照&lt;/Text&gt;&#10;            &lt;/Box&gt;&#10;            &lt;Box style={{ flex: 1, flexDirection: 'column', gap: 12 }}&gt;&#10;                &lt;Box style={{ background: '#F7F9FC', border: '1px solid #D6DCE5', borderRadius: 8, padding: '12px 18px', flexDirection: 'column', gap: 4, flex: 1 }}&gt;&#10;                    &lt;Text style={{ fontSize: 24, fontWeight: 'bold', color: '#1E4FA8' }}&gt;点位① 台账周报生成&lt;/Text&gt;&#10;                    &lt;Text style={{ fontSize: 22, color: '#1A2230', lineHeight: 1.45 }}&gt;哪台抢手、哪台闲置、时段怎么分布——固定四节结构，400 字以内，数据说话。&lt;/Text&gt;&#10;                &lt;/Box&gt;&#10;                &lt;Box style={{ background: '#F7F9FC', border: '1px solid #D6DCE5', borderRadius: 8, padding: '12px 18px', flexDirection: 'column', gap: 4, flex: 1 }}&gt;&#10;                    &lt;Text style={{ fontSize: 24, fontWeight: 'bold', color: '#1E4FA8' }}&gt;点位② 自然语言查询&lt;/Text&gt;&#10;                    &lt;Text style={{ fontSize: 22, color: '#1A2230', lineHeight: 1.45 }}&gt;“明天下午有空闲的投影仪吗？”——只依据系统内真实预约作答，先结论后依据。&lt;/Text&gt;&#10;                &lt;/Box&gt;&#10;                &lt;Box style={{ background: '#0E3F8C', borderRadius: 8, padding: '12px 18px', flexDirection: 'column', gap: 4, flex: 1 }}&gt;&#10;                    &lt;Text style={{ fontSize: 24, fontWeight: 'bold', color: '#FFC107' }}&gt;两条硬约束 + 兜底&lt;/Text&gt;&#10;                    &lt;Text style={{ fontSize: 22, color: '#FFFFFF', lineHeight: 1.45 }}&gt;提示词写死“只依据给定数据”；密钥只在服务端环境变量，前端零接触。五类故障各有兜底文案——“停服看兜底”是正式演示环节。&lt;/Text&gt;&#10;                &lt;/Box&gt;&#10;            &lt;/Box&gt;&#10;        &lt;/Box&gt;&#10;    &lt;/Box&gt;&#10;    &lt;Box style={{ position: 'absolute', top: 668, left: 40, width: 1200, flexDirection: 'row', justifyContent: 'space-between', alignItems: 'center' }}&gt;&#10;        &lt;Text style={{ fontSize: 14, color: '#8B97A8' }}&gt;Vibe Coding 集中实践 · 实验室设备预约系统&lt;/Text&gt;&#10;        &lt;Text style={{ fontSize: 15, fontWeight: 'bold', color: '#1E4FA8' }}&gt;04 / 0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81000" y="266700"/>
            <a:ext cx="2562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能力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题库定义的两个点位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0096500" y="304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D8F0"/>
                </a:solidFill>
                <a:latin typeface="Microsoft YaHei"/>
                <a:ea typeface="Microsoft YaHei"/>
              </a:rPr>
              <a:t>实验室设备预约系统</a:t>
            </a:r>
            <a:r>
              <a:rPr lang="en-US" sz="1050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9D8F0"/>
                </a:solidFill>
                <a:latin typeface="Microsoft YaHei"/>
                <a:ea typeface="Microsoft YaHei"/>
              </a:rPr>
              <a:t>吴辰枫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81000" y="9906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只做它擅长的表达与归纳，规则仍由代码和测试把守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381000" y="1495425"/>
            <a:ext cx="6286500" cy="39243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87" name=""/>
          <p:cNvPicPr>
            <a:picLocks noChangeAspect="1"/>
          </p:cNvPicPr>
          <p:nvPr/>
        </p:nvPicPr>
        <p:blipFill>
          <a:blip r:embed="rId1"/>
          <a:srcRect l="0" t="60" r="0" b="60"/>
          <a:stretch>
            <a:fillRect/>
          </a:stretch>
        </p:blipFill>
        <p:spPr>
          <a:xfrm rot="0" flipH="0" flipV="0">
            <a:off x="381000" y="1495425"/>
            <a:ext cx="6286500" cy="3924300"/>
          </a:xfrm>
          <a:prstGeom prst="roundRect">
            <a:avLst>
              <a:gd name="adj" fmla="val 1942"/>
            </a:avLst>
          </a:prstGeom>
          <a:ln/>
        </p:spPr>
      </p:pic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81000" y="5495925"/>
            <a:ext cx="628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助手页真实界面：服务未启动时明确降级提示（顶部红点），右下为本机用量与成本对照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877050" y="1495425"/>
            <a:ext cx="4933950" cy="129540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048500" y="1609725"/>
            <a:ext cx="4591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点位①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台账周报生成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048500" y="1924050"/>
            <a:ext cx="45910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哪台抢手、哪台闲置、时段怎么分布——固定四节结构，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400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字以内，数据说话。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877050" y="2905125"/>
            <a:ext cx="4933950" cy="129540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048500" y="3019425"/>
            <a:ext cx="4591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点位②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自然语言查询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048500" y="3333750"/>
            <a:ext cx="45910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“明天下午有空闲的投影仪吗？”——只依据系统内真实预约作答，先结论后依据。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77050" y="4314825"/>
            <a:ext cx="4933950" cy="1657350"/>
          </a:xfrm>
          <a:prstGeom prst="roundRect">
            <a:avLst>
              <a:gd name="adj" fmla="val 459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048500" y="4429125"/>
            <a:ext cx="4591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两条硬约束</a:t>
            </a:r>
            <a:r>
              <a:rPr lang="en-US" sz="180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兜底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048500" y="4743450"/>
            <a:ext cx="459105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提示词写死“只依据给定数据”；密钥只在服务端环境变量，前端零接触。五类故障各有兜底文案——“停服看兜底”是正式演示环节。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381000" y="6372225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Vibe Coding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集中实践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实验室设备预约系统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296650" y="63627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0" name="" descr="&lt;Slide style={{ width: 1280, height: 720, position: 'relative', background: '#FFFFFF', overflow: 'hidden' }}&gt;&#10;    &lt;Box style={{ position: 'absolute', top: 0, left: 0, width: 1280, height: 80, background: '#1E4FA8', flexDirection: 'row', alignItems: 'center', justifyContent: 'space-between', padding: '0 40px' }}&gt;&#10;        &lt;Text style={{ fontSize: 20, fontWeight: 'bold', color: '#FFFFFF' }}&gt;质量 · 三层验收，证据说话&lt;/Text&gt;&#10;        &lt;Text style={{ fontSize: 14, color: '#C9D8F0' }}&gt;实验室设备预约系统 · 吴辰枫&lt;/Text&gt;&#10;    &lt;/Box&gt;&#10;    &lt;Box style={{ position: 'absolute', top: 100, left: 40, width: 1200, flexDirection: 'row', gap: 26 }}&gt;&#10;        &lt;Box style={{ width: 520, flexDirection: 'column', gap: 12 }}&gt;&#10;            &lt;Text style={{ fontSize: 32, fontWeight: 'bold', color: '#0E3F8C' }}&gt;能跑不等于可信&lt;/Text&gt;&#10;            &lt;Box style={{ flexDirection: 'row', alignItems: 'flex-end', gap: 14 }}&gt;&#10;                &lt;Text style={{ fontSize: 120, fontWeight: 'bold', color: '#1E4FA8', lineHeight: 1 }}&gt;10&lt;/Text&gt;&#10;                &lt;Text style={{ fontSize: 24, fontWeight: 'bold', color: '#1A2230', lineHeight: 1.3 }}&gt;条业务规则测试&lt;br /&gt;全部通过（R1–R10）&lt;/Text&gt;&#10;            &lt;/Box&gt;&#10;            &lt;Text style={{ fontSize: 22, color: '#4A5568', lineHeight: 1.55 }}&gt;冲突检测、取消释放、改期换档、到期判定、占用矩阵、AI 用量统计——每条规则都由人点名后写成用例，不是 AI 自己&quot;看着办&quot;。&lt;/Text&gt;&#10;            &lt;Box style={{ flexDirection: 'row', gap: 10, flexWrap: 'wrap' }}&gt;&#10;                &lt;Box style={{ background: '#E8EFF8', borderRadius: 6, padding: '8px 14px' }}&gt;&lt;Text style={{ fontSize: 18, color: '#0E3F8C' }}&gt;&lt;span style={{ fontWeight: 'bold', fontSize: 22 }}&gt;7&lt;/span&gt; 个封卷 tag · 每天可验证&lt;/Text&gt;&lt;/Box&gt;&#10;                &lt;Box style={{ background: '#E8EFF8', borderRadius: 6, padding: '8px 14px' }}&gt;&lt;Text style={{ fontSize: 18, color: '#0E3F8C' }}&gt;CI 每次 push 自动跑&lt;/Text&gt;&lt;/Box&gt;&#10;                &lt;Box style={{ background: '#E8EFF8', borderRadius: 6, padding: '8px 14px' }}&gt;&lt;Text style={{ fontSize: 18, color: '#0E3F8C' }}&gt;线上公网可访问&lt;/Text&gt;&lt;/Box&gt;&#10;            &lt;/Box&gt;&#10;            &lt;Box style={{ background: '#0E3F8C', borderRadius: 8, padding: '14px 18px' }}&gt;&#10;                &lt;Text style={{ fontSize: 21, fontWeight: 'bold', color: '#FFC107' }}&gt;AI 说的&quot;完成&quot;不算数，跑过才算。&lt;/Text&gt;&#10;                &lt;Text style={{ fontSize: 22, color: '#FFFFFF', lineHeight: 1.5 }}&gt;第 6 天用像素检测抓出&quot;数据正确但未渲染&quot;的图表缺陷——客观验证比肉眼可靠。&lt;/Text&gt;&#10;            &lt;/Box&gt;&#10;        &lt;/Box&gt;&#10;        &lt;Box style={{ flex: 1, flexDirection: 'column', gap: 8 }}&gt;&#10;            &lt;Image src=&quot;assets/shot-dashboard.png&quot; style={{ width: 620, height: 388, objectFit: 'cover', borderRadius: 8, border: '1px solid #D6DCE5' }} /&gt;&#10;            &lt;Text style={{ fontSize: 16, color: '#4A5568' }}&gt;数据看板真实界面：KPI 与三图全部由 localStorage 中的真实预约数据驱动，支持一键导出 CSV&lt;/Text&gt;&#10;        &lt;/Box&gt;&#10;    &lt;/Box&gt;&#10;    &lt;Box style={{ position: 'absolute', top: 668, left: 40, width: 1200, flexDirection: 'row', justifyContent: 'space-between', alignItems: 'center' }}&gt;&#10;        &lt;Text style={{ fontSize: 14, color: '#8B97A8' }}&gt;Vibe Coding 集中实践 · 实验室设备预约系统&lt;/Text&gt;&#10;        &lt;Text style={{ fontSize: 15, fontWeight: 'bold', color: '#1E4FA8' }}&gt;05 / 0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81000" y="266700"/>
            <a:ext cx="2295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质量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三层验收，证据说话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096500" y="304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D8F0"/>
                </a:solidFill>
                <a:latin typeface="Microsoft YaHei"/>
                <a:ea typeface="Microsoft YaHei"/>
              </a:rPr>
              <a:t>实验室设备预约系统</a:t>
            </a:r>
            <a:r>
              <a:rPr lang="en-US" sz="1050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9D8F0"/>
                </a:solidFill>
                <a:latin typeface="Microsoft YaHei"/>
                <a:ea typeface="Microsoft YaHei"/>
              </a:rPr>
              <a:t>吴辰枫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81000" y="952500"/>
            <a:ext cx="495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能跑不等于可信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81000" y="1438275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E4FA8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933575" y="2095500"/>
            <a:ext cx="2238375" cy="714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条业务规则测试</a:t>
            </a:r>
            <a:endParaRPr/>
          </a:p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全部通过（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R1–R10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1000" y="2924175"/>
            <a:ext cx="49530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冲突检测、取消释放、改期换档、到期判定、占用矩阵、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用量统计——每条规则都由人点名后写成用例，不是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自己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看着办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81000" y="4210050"/>
            <a:ext cx="2286000" cy="409575"/>
          </a:xfrm>
          <a:prstGeom prst="roundRect">
            <a:avLst>
              <a:gd name="adj" fmla="val 1395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14350" y="4286250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7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个封卷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 tag ·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每天可验证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2762250" y="4210050"/>
            <a:ext cx="1847850" cy="409575"/>
          </a:xfrm>
          <a:prstGeom prst="roundRect">
            <a:avLst>
              <a:gd name="adj" fmla="val 1395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2895600" y="4286250"/>
            <a:ext cx="158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CI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每次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 push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自动跑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381000" y="4714875"/>
            <a:ext cx="1466850" cy="361950"/>
          </a:xfrm>
          <a:prstGeom prst="roundRect">
            <a:avLst>
              <a:gd name="adj" fmla="val 1578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14350" y="47910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线上公网可访问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381000" y="5191125"/>
            <a:ext cx="4953000" cy="1276350"/>
          </a:xfrm>
          <a:prstGeom prst="roundRect">
            <a:avLst>
              <a:gd name="adj" fmla="val 597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52450" y="5324475"/>
            <a:ext cx="461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说的</a:t>
            </a: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完成</a:t>
            </a: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不算数，跑过才算。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52450" y="5572125"/>
            <a:ext cx="46101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天用像素检测抓出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数据正确但未渲染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的图表缺陷——客观验证比肉眼可靠。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581650" y="952500"/>
            <a:ext cx="5905500" cy="36957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 r:embed="rId1"/>
          <a:srcRect l="64" t="0" r="64" b="0"/>
          <a:stretch>
            <a:fillRect/>
          </a:stretch>
        </p:blipFill>
        <p:spPr>
          <a:xfrm rot="0" flipH="0" flipV="0">
            <a:off x="5581650" y="952500"/>
            <a:ext cx="5905500" cy="3695700"/>
          </a:xfrm>
          <a:prstGeom prst="roundRect">
            <a:avLst>
              <a:gd name="adj" fmla="val 2062"/>
            </a:avLst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581650" y="4724400"/>
            <a:ext cx="62293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数据看板真实界面：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KPI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与三图全部由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localStorage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中的真实预约数据驱动，支持一键导出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CSV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81000" y="6372225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Vibe Coding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集中实践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实验室设备预约系统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296650" y="63627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05 / 06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3" name="" descr="&lt;Slide style={{ width: 1280, height: 720, position: 'relative', background: '#0E3F8C', overflow: 'hidden' }}&gt;&#10;    &lt;Box style={{ position: 'absolute', top: 0, left: 0, width: 1280, height: 720, background: 'linear-gradient(160deg, rgba(30,79,168,0.55) 0%, rgba(14,63,140,0) 45%)' }} /&gt;&#10;    &lt;Box style={{ position: 'absolute', top: 92, left: 0, width: 1280, flexDirection: 'column', alignItems: 'center', gap: 18 }}&gt;&#10;        &lt;Box style={{ border: '1px solid #5B84C9', borderRadius: 20, padding: '6px 20px' }}&gt;&#10;            &lt;Text style={{ fontSize: 16, color: '#C9D8F0', letterSpacing: 3 }}&gt;结课路演 · 实验室设备预约系统&lt;/Text&gt;&#10;        &lt;/Box&gt;&#10;        &lt;Text style={{ fontSize: 54, fontWeight: 'bold', color: '#FFFFFF', textAlign: 'center', lineHeight: 1.3 }}&gt;&#10;            需求写准，&lt;span style={{ color: '#FFC107' }}&gt;AI 才不至于跑偏&lt;/span&gt;&#10;        &lt;/Text&gt;&#10;        &lt;Text style={{ fontSize: 22, color: '#D8E3F5', textAlign: 'center', lineHeight: 1.7, width: 900 }}&gt;&#10;            第 7 天发现原定的 AI 方向是&quot;贴皮&quot;，对照题库原文砍掉重做——&lt;br /&gt;&#10;            把需求逐条翻成验收条款和测试规则再交给 AI 实现，&lt;br /&gt;&#10;            这套&quot;人定标准、证据说话&quot;的方法，比代码更能带走到下一个题目。&#10;        &lt;/Text&gt;&#10;        &lt;Box style={{ flexDirection: 'row', gap: 22, alignItems: 'center', marginTop: 18 }}&gt;&#10;            &lt;QRCode text='https://huanz1.github.io/project1/' width={180} darkColor='#0E3F8C' lightColor='#FFFFFF' errorCorrectionLevel='Q' /&gt;&#10;            &lt;Box style={{ flexDirection: 'column', gap: 6 }}&gt;&#10;                &lt;Text style={{ fontSize: 22, fontWeight: 'bold', color: '#FFFFFF' }}&gt;扫码现场体验&lt;/Text&gt;&#10;                &lt;Text style={{ fontSize: 18, color: '#C9D8F0' }}&gt;线上地址 · huanz1.github.io/project1&lt;/Text&gt;&#10;                &lt;Text style={{ fontSize: 18, color: '#C9D8F0' }}&gt;6 台设备 · 5 个时段 · 冲突双保险 · AI 周报与问答&lt;/Text&gt;&#10;            &lt;/Box&gt;&#10;        &lt;/Box&gt;&#10;    &lt;/Box&gt;&#10;    &lt;Box style={{ position: 'absolute', bottom: 40, left: 0, width: 1280, flexDirection: 'row', justifyContent: 'space-between', padding: '0 64px' }}&gt;&#10;        &lt;Text style={{ fontSize: 16, color: '#AFC8EC' }}&gt;吴辰枫 · Vibe Coding 集中实践 · 2026 年 10 月&lt;/Text&gt;&#10;        &lt;Text style={{ fontSize: 16, color: '#AFC8EC' }}&gt;谢谢观看 · 欢迎提问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4FA8">
                  <a:alpha val="55000"/>
                </a:srgbClr>
              </a:gs>
              <a:gs pos="45000">
                <a:srgbClr val="0E3F8C">
                  <a:alpha val="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4619625" y="876300"/>
            <a:ext cx="2952750" cy="304800"/>
          </a:xfrm>
          <a:prstGeom prst="roundRect">
            <a:avLst>
              <a:gd name="adj" fmla="val 62500"/>
            </a:avLst>
          </a:prstGeom>
          <a:ln w="12700">
            <a:solidFill>
              <a:srgbClr val="5B84C9"/>
            </a:solidFill>
            <a:prstDash val="solid"/>
          </a:ln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810125" y="933450"/>
            <a:ext cx="257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C9D8F0"/>
                </a:solidFill>
                <a:latin typeface="Microsoft YaHei"/>
                <a:ea typeface="Microsoft YaHei"/>
              </a:rPr>
              <a:t>结课路演</a:t>
            </a:r>
            <a:r>
              <a:rPr lang="en-US" sz="1200" spc="225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225">
                <a:solidFill>
                  <a:srgbClr val="C9D8F0"/>
                </a:solidFill>
                <a:latin typeface="Microsoft YaHei"/>
                <a:ea typeface="Microsoft YaHei"/>
              </a:rPr>
              <a:t>实验室设备预约系统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2914650" y="1352550"/>
            <a:ext cx="6372225" cy="8096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需求写准，</a:t>
            </a:r>
            <a:r>
              <a:rPr lang="en-US" sz="40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4050" b="1">
                <a:solidFill>
                  <a:srgbClr val="FFC107"/>
                </a:solidFill>
                <a:latin typeface="Microsoft YaHei"/>
                <a:ea typeface="Microsoft YaHei"/>
              </a:rPr>
              <a:t>才不至于跑偏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809750" y="2333625"/>
            <a:ext cx="8572500" cy="128587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第</a:t>
            </a:r>
            <a:r>
              <a:rPr lang="en-US" sz="1650">
                <a:solidFill>
                  <a:srgbClr val="D8E3F5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天发现原定的</a:t>
            </a:r>
            <a:r>
              <a:rPr lang="en-US" sz="1650">
                <a:solidFill>
                  <a:srgbClr val="D8E3F5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方向是</a:t>
            </a:r>
            <a:r>
              <a:rPr lang="en-US" sz="1650">
                <a:solidFill>
                  <a:srgbClr val="D8E3F5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贴皮</a:t>
            </a:r>
            <a:r>
              <a:rPr lang="en-US" sz="1650">
                <a:solidFill>
                  <a:srgbClr val="D8E3F5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，对照题库原文砍掉重做——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把需求逐条翻成验收条款和测试规则再交给</a:t>
            </a:r>
            <a:r>
              <a:rPr lang="en-US" sz="1650">
                <a:solidFill>
                  <a:srgbClr val="D8E3F5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实现，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这套</a:t>
            </a:r>
            <a:r>
              <a:rPr lang="en-US" sz="1650">
                <a:solidFill>
                  <a:srgbClr val="D8E3F5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人定标准、证据说话</a:t>
            </a:r>
            <a:r>
              <a:rPr lang="en-US" sz="1650">
                <a:solidFill>
                  <a:srgbClr val="D8E3F5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D8E3F5"/>
                </a:solidFill>
                <a:latin typeface="Microsoft YaHei"/>
                <a:ea typeface="Microsoft YaHei"/>
              </a:rPr>
              <a:t>的方法，比代码更能带走到下一个题目。</a:t>
            </a:r>
            <a:endParaRPr/>
          </a:p>
        </p:txBody>
      </p:sp>
      <p:pic>
        <p:nvPicPr>
          <p:cNvPr id="130" name="" descr="QR Code: https://huanz1.github.io/project1/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286125" y="3962400"/>
            <a:ext cx="1714500" cy="1714500"/>
          </a:xfrm>
          <a:prstGeom prst="rect">
            <a:avLst/>
          </a:prstGeom>
          <a:ln/>
        </p:spPr>
      </p:pic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210175" y="4429125"/>
            <a:ext cx="3705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扫码现场体验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210175" y="4743450"/>
            <a:ext cx="3705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9D8F0"/>
                </a:solidFill>
                <a:latin typeface="Microsoft YaHei"/>
                <a:ea typeface="Microsoft YaHei"/>
              </a:rPr>
              <a:t>线上地址</a:t>
            </a:r>
            <a:r>
              <a:rPr lang="en-US" sz="1350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huanz1.github.io/project1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210175" y="5010150"/>
            <a:ext cx="3705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C9D8F0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350">
                <a:solidFill>
                  <a:srgbClr val="C9D8F0"/>
                </a:solidFill>
                <a:latin typeface="Microsoft YaHei"/>
                <a:ea typeface="Microsoft YaHei"/>
              </a:rPr>
              <a:t>台设备</a:t>
            </a:r>
            <a:r>
              <a:rPr lang="en-US" sz="1350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1350">
                <a:solidFill>
                  <a:srgbClr val="C9D8F0"/>
                </a:solidFill>
                <a:latin typeface="Microsoft YaHei"/>
                <a:ea typeface="Microsoft YaHei"/>
              </a:rPr>
              <a:t>个时段</a:t>
            </a:r>
            <a:r>
              <a:rPr lang="en-US" sz="1350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C9D8F0"/>
                </a:solidFill>
                <a:latin typeface="Microsoft YaHei"/>
                <a:ea typeface="Microsoft YaHei"/>
              </a:rPr>
              <a:t>冲突双保险</a:t>
            </a:r>
            <a:r>
              <a:rPr lang="en-US" sz="1350">
                <a:solidFill>
                  <a:srgbClr val="C9D8F0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350">
                <a:solidFill>
                  <a:srgbClr val="C9D8F0"/>
                </a:solidFill>
                <a:latin typeface="Microsoft YaHei"/>
                <a:ea typeface="Microsoft YaHei"/>
              </a:rPr>
              <a:t>周报与问答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628650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FC8EC"/>
                </a:solidFill>
                <a:latin typeface="Microsoft YaHei"/>
                <a:ea typeface="Microsoft YaHei"/>
              </a:rPr>
              <a:t>吴辰枫</a:t>
            </a:r>
            <a:r>
              <a:rPr lang="en-US" sz="1200">
                <a:solidFill>
                  <a:srgbClr val="AFC8EC"/>
                </a:solidFill>
                <a:latin typeface="Microsoft YaHei"/>
                <a:ea typeface="Microsoft YaHei"/>
              </a:rPr>
              <a:t xml:space="preserve"> · Vibe Coding </a:t>
            </a:r>
            <a:r>
              <a:rPr lang="zh-CN" sz="1200">
                <a:solidFill>
                  <a:srgbClr val="AFC8EC"/>
                </a:solidFill>
                <a:latin typeface="Microsoft YaHei"/>
                <a:ea typeface="Microsoft YaHei"/>
              </a:rPr>
              <a:t>集中实践</a:t>
            </a:r>
            <a:r>
              <a:rPr lang="en-US" sz="1200">
                <a:solidFill>
                  <a:srgbClr val="AFC8EC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200">
                <a:solidFill>
                  <a:srgbClr val="AFC8EC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AFC8EC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AFC8EC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229850" y="628650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FC8EC"/>
                </a:solidFill>
                <a:latin typeface="Microsoft YaHei"/>
                <a:ea typeface="Microsoft YaHei"/>
              </a:rPr>
              <a:t>谢谢观看</a:t>
            </a:r>
            <a:r>
              <a:rPr lang="en-US" sz="1200">
                <a:solidFill>
                  <a:srgbClr val="AFC8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AFC8EC"/>
                </a:solidFill>
                <a:latin typeface="Microsoft YaHei"/>
                <a:ea typeface="Microsoft YaHei"/>
              </a:rPr>
              <a:t>欢迎提问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2026-10-13T20:00:00Z</dcterms:created>
  <dcterms:modified xsi:type="dcterms:W3CDTF">2026-10-13T20:00:00Z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{"AIGC":{"Label":"1","ContentProducer":"00119111010856365494821B355","ProduceID":"01a13519c5e878dea1bd29c9b71930f3","ReservedCode1":"","ContentPropagator":"00119111010856365494821B355","PropagateID":"01a13519c5e878dea1bd29c9b71930f3","ReservedCode2":""}}</vt:lpwstr>
  </property>
</Properties>
</file>